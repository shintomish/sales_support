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業務フローマップ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BBCCEE"/>
                </a:solidFill>
              </a:rPr>
              <a:t>sales_support — 案件メール・技術者管理・マッチング・配信の連携全体図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365760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8AACC"/>
                </a:solidFill>
              </a:rPr>
              <a:t>2026-04-11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1645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✅ 実装済み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754880"/>
            <a:ext cx="1645920" cy="36576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🔄 SES審査中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1828800" cy="36576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⚠ 未接続（今後の課題）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システム全体像 — 5つの機能エリアと連携状況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377440" cy="585216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04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F457C"/>
                </a:solidFill>
              </a:rPr>
              <a:t>① 受信・分類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777240"/>
            <a:ext cx="2743200" cy="27432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804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F457C"/>
                </a:solidFill>
              </a:rPr>
              <a:t>② 案件メール管理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3749039"/>
            <a:ext cx="2743200" cy="265176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76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F457C"/>
                </a:solidFill>
              </a:rPr>
              <a:t>③ 技術者メール管理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777240"/>
            <a:ext cx="2926080" cy="5852160"/>
          </a:xfrm>
          <a:prstGeom prst="rect">
            <a:avLst/>
          </a:prstGeom>
          <a:solidFill>
            <a:srgbClr val="C6EFCE"/>
          </a:solidFill>
          <a:ln w="9525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804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7864A"/>
                </a:solidFill>
              </a:rPr>
              <a:t>④ マスタ管理 / マーケット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777240"/>
            <a:ext cx="2926080" cy="5852160"/>
          </a:xfrm>
          <a:prstGeom prst="rect">
            <a:avLst/>
          </a:prstGeom>
          <a:solidFill>
            <a:srgbClr val="FCE4D6"/>
          </a:solidFill>
          <a:ln w="9525">
            <a:solidFill>
              <a:srgbClr val="E3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804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E37B1F"/>
                </a:solidFill>
              </a:rPr>
              <a:t>⑤ 送信チャネル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Gmail受信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1168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案件メール
(自動分類・AI解析)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20116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技術者メール
(自動分類・AI解析)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1691640"/>
            <a:ext cx="0" cy="32004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0160" y="1691640"/>
            <a:ext cx="0" cy="214884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solidFill>
            <a:srgbClr val="5BA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分類エンジン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2267712"/>
            <a:ext cx="54864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0" y="4096512"/>
            <a:ext cx="54864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26080" y="1188720"/>
            <a:ext cx="25603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AIスコアリング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1920240"/>
            <a:ext cx="25603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案件メール一覧
確認・編集・優先度付け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25603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マッチング
(自社技術者との照合)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206240" y="1920240"/>
            <a:ext cx="0" cy="347472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06240" y="2423160"/>
            <a:ext cx="0" cy="2286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26080" y="3840480"/>
            <a:ext cx="25603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AIスコアリング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572000"/>
            <a:ext cx="25603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技術者メール一覧
確認・ステータス管理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303520"/>
            <a:ext cx="2560320" cy="50292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→ 技術者登録（手動）
⚠ 自動連携なし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06240" y="4343400"/>
            <a:ext cx="0" cy="22860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06240" y="5074920"/>
            <a:ext cx="0" cy="228600"/>
          </a:xfrm>
          <a:prstGeom prst="line">
            <a:avLst/>
          </a:prstGeom>
          <a:ln w="19050">
            <a:solidFill>
              <a:srgbClr val="E37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技術者管理
(Engineer マスタ)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011680"/>
            <a:ext cx="2560320" cy="54864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案件マーケット
(PublicProject)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834640"/>
            <a:ext cx="2560320" cy="54864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マッチングスコア
(MatchingService)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840480"/>
            <a:ext cx="2560320" cy="54864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配信先リスト
(DeliveryAddress)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0" y="3108960"/>
            <a:ext cx="457200" cy="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23760" y="2286000"/>
            <a:ext cx="0" cy="548640"/>
          </a:xfrm>
          <a:prstGeom prst="line">
            <a:avLst/>
          </a:prstGeom>
          <a:ln w="1905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223760" y="1463040"/>
            <a:ext cx="0" cy="548640"/>
          </a:xfrm>
          <a:prstGeom prst="line">
            <a:avLst/>
          </a:prstGeom>
          <a:ln w="19050">
            <a:solidFill>
              <a:srgbClr val="E37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0" y="3401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E37B1F"/>
                </a:solidFill>
              </a:rPr>
              <a:t>⚠ マーケット→送信 未接続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1188720"/>
            <a:ext cx="2560320" cy="54864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提案メール送信
(個別 / 一括)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194560"/>
            <a:ext cx="2560320" cy="548640"/>
          </a:xfrm>
          <a:prstGeom prst="rect">
            <a:avLst/>
          </a:prstGeom>
          <a:solidFill>
            <a:srgbClr val="E39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配信キャンペーン
(DeliveryCampaign)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B06000"/>
                </a:solidFill>
              </a:rPr>
              <a:t>🔄 Amazon SES審査中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503920" y="1463040"/>
            <a:ext cx="640080" cy="164592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503920" y="2468880"/>
            <a:ext cx="640080" cy="164592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86400" y="2286000"/>
            <a:ext cx="3657600" cy="0"/>
          </a:xfrm>
          <a:prstGeom prst="line">
            <a:avLst/>
          </a:prstGeom>
          <a:ln w="19050">
            <a:solidFill>
              <a:srgbClr val="E39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フローA: 外部案件メール → 自社技術者の提案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✅ 実装済み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①
パートナー企業から
案件紹介メール受信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05740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②
Gmail同期
自動分類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4904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③
AIスコアリング
(重要度・適合度)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4068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④
営業が確認
手動修正・優先度付け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3232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⑤
マッチング
自社技術者を照合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823960" y="2286000"/>
            <a:ext cx="146304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⑥
提案メール生成
(Claude AIで文面作成)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87000" y="2926080.0"/>
            <a:ext cx="228600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515600" y="2286000"/>
            <a:ext cx="1463040" cy="128016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⑦
送信
(個別 / 一括)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Email
(受信メール)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5740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ProjectMail
Source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4904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ProjectMail
Source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4068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ProjectMail
Source
+ status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13232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Matching
Service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82396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Claude
API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5548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515600" y="3840480"/>
            <a:ext cx="1463040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F457C"/>
                </a:solidFill>
              </a:rPr>
              <a:t>MailSend
History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247120.0" y="3566160"/>
            <a:ext cx="0.0" cy="274320"/>
          </a:xfrm>
          <a:prstGeom prst="line">
            <a:avLst/>
          </a:prstGeom>
          <a:ln w="12700">
            <a:solidFill>
              <a:srgbClr val="767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65760" y="5029200"/>
            <a:ext cx="10972800" cy="54864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457C"/>
                </a:solidFill>
              </a:rPr>
              <a:t>ステータス遷移:  new → review → proposed → interview → won /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7676"/>
                </a:solidFill>
              </a:rPr>
              <a:t>パートナー企業から届いた案件紹介メールを AI でスコアリングし、自社の技術者とマッチングして提案返信するメインフロー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フローB: 外部技術者メール → 自社案件へのアサイン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⚠ 一部未実装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7676"/>
                </a:solidFill>
              </a:rPr>
              <a:t>外部BP企業から届いた技術者紹介メールを確認し、案件にアサインするフロー。受信〜スコアリングは実装済みだが、後半の連携が未実装。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4173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①
技術者紹介メール
受信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743200.0"/>
            <a:ext cx="201168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84248" y="2103120"/>
            <a:ext cx="14173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②
Gmail同期
自動分類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2743200.0"/>
            <a:ext cx="201168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02736" y="2103120"/>
            <a:ext cx="14173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③
AIスコアリング
(スキル・稼働日)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0056" y="2743200.0"/>
            <a:ext cx="201168" cy="0.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21224" y="2103120"/>
            <a:ext cx="141732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④
技術者メール一覧
で確認・編集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38544" y="2743200.0"/>
            <a:ext cx="201168" cy="0.0"/>
          </a:xfrm>
          <a:prstGeom prst="line">
            <a:avLst/>
          </a:prstGeom>
          <a:ln w="25400">
            <a:solidFill>
              <a:srgbClr val="E37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39712" y="2103120"/>
            <a:ext cx="1417320" cy="128016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⑤
自社案件と
マッチング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57032" y="2743200.0"/>
            <a:ext cx="201168" cy="0.0"/>
          </a:xfrm>
          <a:prstGeom prst="line">
            <a:avLst/>
          </a:prstGeom>
          <a:ln w="25400">
            <a:solidFill>
              <a:srgbClr val="E37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458200" y="2103120"/>
            <a:ext cx="1417320" cy="128016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⑥
技術者管理へ
自動登録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0" y="2743200.0"/>
            <a:ext cx="201168" cy="0.0"/>
          </a:xfrm>
          <a:prstGeom prst="line">
            <a:avLst/>
          </a:prstGeom>
          <a:ln w="25400">
            <a:solidFill>
              <a:srgbClr val="E37B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76688" y="2103120"/>
            <a:ext cx="1417320" cy="128016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⑦
案件アサイン
・提案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39128.0" y="1828800"/>
            <a:ext cx="0.0" cy="1920239"/>
          </a:xfrm>
          <a:prstGeom prst="line">
            <a:avLst/>
          </a:prstGeom>
          <a:ln w="25400">
            <a:solidFill>
              <a:srgbClr val="E37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8192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E37B1F"/>
                </a:solidFill>
              </a:rPr>
              <a:t>← 実装済み ｜ 未実装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11155680" cy="1463040"/>
          </a:xfrm>
          <a:prstGeom prst="rect">
            <a:avLst/>
          </a:prstGeom>
          <a:solidFill>
            <a:srgbClr val="FCE4D6"/>
          </a:solidFill>
          <a:ln w="9525">
            <a:solidFill>
              <a:srgbClr val="E3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37B1F"/>
                </a:solidFill>
              </a:rPr>
              <a:t>▼ 未実装による課題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EngineerMailSource → Engineer マスタへの自動登録ボタンがない（手動で別途入力が必要）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474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技術者メールを見ながら「自社のどの案件に合うか」を確認する画面がない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00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ステータスを registered に変更しても、Engineerレコードは作成されない（DBレベルで未接続）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フローC: 案件マーケット → 技術者レコメンド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⚠ 送信導線なし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7676"/>
                </a:solidFill>
              </a:rPr>
              <a:t>自社が抱える案件を PublicProject として登録し、合う技術者をAIでレコメンドするフロー。レコメンドまでは動作するが送信導線がない。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828800" cy="137160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①
PublicProject
登録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697480.0"/>
            <a:ext cx="45720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0" y="2011680"/>
            <a:ext cx="1828800" cy="137160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②
必須スキル
を設定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2697480.0"/>
            <a:ext cx="45720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0" y="2011680"/>
            <a:ext cx="1828800" cy="137160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③
MatchingService
でスコア計算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2697480.0"/>
            <a:ext cx="45720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72400" y="2011680"/>
            <a:ext cx="1828800" cy="137160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④
おすすめ技術者
一覧を確認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0" y="2697480.0"/>
            <a:ext cx="45720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058400" y="2011680"/>
            <a:ext cx="1828800" cy="137160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⑤
提案メール
を送信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37B1F"/>
                </a:solidFill>
              </a:rPr>
              <a:t>⚠ 未実装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14800"/>
            <a:ext cx="10058400" cy="1645920"/>
          </a:xfrm>
          <a:prstGeom prst="rect">
            <a:avLst/>
          </a:prstGeom>
          <a:solidFill>
            <a:srgbClr val="C6EFCE"/>
          </a:solidFill>
          <a:ln w="9525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7864A"/>
                </a:solidFill>
              </a:rPr>
              <a:t>▼ MatchingService スコア計算ロジック（重みは仮値 → 実運用後チューニング推奨）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スキル適合度 50%  — 必須スキルの経験年数 × 重要度で計算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365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単価適合度   25%  — 案件単価と技術者希望単価の重複範囲で計算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9262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勤務地適合度 15%  — remote/hybrid/office の組み合わせで計算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4865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稼働時期適合度 10% — 案件開始日 vs 技術者稼働可能日の差分で計算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フローD: 配信先リスト → 一括メール配信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🔄 Amazon SES審査中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7676"/>
                </a:solidFill>
              </a:rPr>
              <a:t>登録済み配信先リストに対して案件情報を一括配信するフロー。実装は完了しており Amazon SES の本番審査通過後に稼働開始。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920240" cy="164592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①
配信先リスト
管理
(DeliveryAddress)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651760.0"/>
            <a:ext cx="27432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651760" y="1828800"/>
            <a:ext cx="1920240" cy="164592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②
配信対象の
案件メールを選択
(ProjectMailSource)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651760.0"/>
            <a:ext cx="27432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46320" y="1828800"/>
            <a:ext cx="1920240" cy="164592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③
件名・本文
を入力
(テンプレート使用可)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60" y="2651760.0"/>
            <a:ext cx="274320" cy="0.0"/>
          </a:xfrm>
          <a:prstGeom prst="line">
            <a:avLst/>
          </a:prstGeom>
          <a:ln w="25400">
            <a:solidFill>
              <a:srgbClr val="378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40880" y="1828800"/>
            <a:ext cx="1920240" cy="164592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④
DeliveryCampaign
Service
一括送信実行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2651760.0"/>
            <a:ext cx="274320" cy="0.0"/>
          </a:xfrm>
          <a:prstGeom prst="line">
            <a:avLst/>
          </a:prstGeom>
          <a:ln w="25400">
            <a:solidFill>
              <a:srgbClr val="E37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235440" y="1828800"/>
            <a:ext cx="1920240" cy="1645920"/>
          </a:xfrm>
          <a:prstGeom prst="rect">
            <a:avLst/>
          </a:prstGeom>
          <a:solidFill>
            <a:srgbClr val="378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⑤
送信履歴
成功/失敗
を記録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155680" cy="640080"/>
          </a:xfrm>
          <a:prstGeom prst="rect">
            <a:avLst/>
          </a:prstGeom>
          <a:solidFill>
            <a:srgbClr val="FFF0D0"/>
          </a:solidFill>
          <a:ln w="19050">
            <a:solidFill>
              <a:srgbClr val="E3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04000"/>
                </a:solidFill>
              </a:rPr>
              <a:t>🔄  Amazon SES 本番送信申請中（2026-04-10 申請 / 承認まで1〜3営業日）  →  承認後すぐ稼働開始予定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155680" cy="1645920"/>
          </a:xfrm>
          <a:prstGeom prst="rect">
            <a:avLst/>
          </a:prstGeom>
          <a:solidFill>
            <a:srgbClr val="FCE4D6"/>
          </a:solidFill>
          <a:ln w="9525">
            <a:solidFill>
              <a:srgbClr val="E3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37B1F"/>
                </a:solidFill>
              </a:rPr>
              <a:t>▼ 審査通過後に確認すべき事項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バウンス・苦情のハンドリング: 送信失敗アドレスを is_active=false に自動更新する仕組みが必要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重複送信防止: 同一キャンペーンの再送ガードがあるか確認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</a:rPr>
              <a:t>• 送信レート制限: SES の sending quota (初期は低め) に合わせてバッチ分割を検討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断絶箇所と改善ロードマップ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91440"/>
            <a:ext cx="2651760" cy="4572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>
                <a:solidFill>
                  <a:srgbClr val="BBCCEE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7676"/>
                </a:solidFill>
              </a:rPr>
              <a:t>現状の未接続ポイントを優先度順に整理し、実装コストと業務インパクトで判断する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71600"/>
            <a:ext cx="68580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A1A1A"/>
                </a:solidFill>
              </a:rPr>
              <a:t>技術者メール → 技術者管理への「一発登録」ボタン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371600"/>
            <a:ext cx="914400" cy="502920"/>
          </a:xfrm>
          <a:prstGeom prst="rect">
            <a:avLst/>
          </a:prstGeom>
          <a:solidFill>
            <a:srgbClr val="C6EFCE"/>
          </a:solidFill>
          <a:ln w="6350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業務
インパクト: 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914400" cy="5029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実装
コスト: 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901952"/>
            <a:ext cx="8869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</a:rPr>
              <a:t>EngineerMailSource の内容から Engineer レコードを自動生成する API アクションを追加。
添付スキルシートがあれば parseSkillSheet と組み合わせる。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502920" cy="502920"/>
          </a:xfrm>
          <a:prstGeom prst="rect">
            <a:avLst/>
          </a:prstGeom>
          <a:solidFill>
            <a:srgbClr val="E3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51760"/>
            <a:ext cx="68580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E3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A1A1A"/>
                </a:solidFill>
              </a:rPr>
              <a:t>技術者メール上での自社案件マッチング表示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651760"/>
            <a:ext cx="914400" cy="502920"/>
          </a:xfrm>
          <a:prstGeom prst="rect">
            <a:avLst/>
          </a:prstGeom>
          <a:solidFill>
            <a:srgbClr val="C6EFCE"/>
          </a:solidFill>
          <a:ln w="6350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業務
インパクト: 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651760"/>
            <a:ext cx="914400" cy="5029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実装
コスト: 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182112"/>
            <a:ext cx="8869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</a:rPr>
              <a:t>「この技術者に合う自社案件」を ProjectMailSource と同じ仕組みでスコアリングして表示。
EngineerMailMatchingService として実装。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931920"/>
            <a:ext cx="68580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A1A1A"/>
                </a:solidFill>
              </a:rPr>
              <a:t>案件マーケット → 提案メール送信の導線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931920"/>
            <a:ext cx="914400" cy="502920"/>
          </a:xfrm>
          <a:prstGeom prst="rect">
            <a:avLst/>
          </a:prstGeom>
          <a:solidFill>
            <a:srgbClr val="C6EFCE"/>
          </a:solidFill>
          <a:ln w="6350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業務
インパクト: 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3931920"/>
            <a:ext cx="914400" cy="5029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実装
コスト: 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462272"/>
            <a:ext cx="8869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</a:rPr>
              <a:t>MatchingController のレコメンド結果から直接 sendProposal を呼び出せる UI / API を追加。
既存の ProposalMail を流用するだけで実装可能。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12080"/>
            <a:ext cx="502920" cy="50292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212080"/>
            <a:ext cx="68580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1A1A1A"/>
                </a:solidFill>
              </a:rPr>
              <a:t>配信管理のバウンス自動処理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5212080"/>
            <a:ext cx="914400" cy="502920"/>
          </a:xfrm>
          <a:prstGeom prst="rect">
            <a:avLst/>
          </a:prstGeom>
          <a:solidFill>
            <a:srgbClr val="C6EFCE"/>
          </a:solidFill>
          <a:ln w="6350">
            <a:solidFill>
              <a:srgbClr val="378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業務
インパクト: 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5212080"/>
            <a:ext cx="914400" cy="502920"/>
          </a:xfrm>
          <a:prstGeom prst="rect">
            <a:avLst/>
          </a:prstGeom>
          <a:solidFill>
            <a:srgbClr val="BDD7E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</a:rPr>
              <a:t>実装
コスト: 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742432"/>
            <a:ext cx="8869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A1A1A"/>
                </a:solidFill>
              </a:rPr>
              <a:t>Amazon SES の SNS 通知を受け取り、バウンス・苦情発生時に DeliveryAddress.is_active を自動で false にする。
SES 審査通過後に着手。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